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  <p:embeddedFont>
      <p:font typeface="Roboto Black" panose="02000000000000000000" pitchFamily="2" charset="0"/>
      <p:bold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85F4"/>
    <a:srgbClr val="EA4335"/>
    <a:srgbClr val="FBBC04"/>
    <a:srgbClr val="34A853"/>
    <a:srgbClr val="2021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84" autoAdjust="0"/>
    <p:restoredTop sz="94660"/>
  </p:normalViewPr>
  <p:slideViewPr>
    <p:cSldViewPr snapToGrid="0">
      <p:cViewPr>
        <p:scale>
          <a:sx n="50" d="100"/>
          <a:sy n="50" d="100"/>
        </p:scale>
        <p:origin x="87" y="4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YTON, ASSAMEE Y. (Student)" userId="d66164a3-933a-48aa-bf2a-2fa2c758a05b" providerId="ADAL" clId="{9AB7F413-9A3C-4CDC-AAF7-B21220BCB8DA}"/>
    <pc:docChg chg="undo custSel modSld">
      <pc:chgData name="CLAYTON, ASSAMEE Y. (Student)" userId="d66164a3-933a-48aa-bf2a-2fa2c758a05b" providerId="ADAL" clId="{9AB7F413-9A3C-4CDC-AAF7-B21220BCB8DA}" dt="2026-02-14T20:15:18.441" v="80" actId="14100"/>
      <pc:docMkLst>
        <pc:docMk/>
      </pc:docMkLst>
      <pc:sldChg chg="modSp mod">
        <pc:chgData name="CLAYTON, ASSAMEE Y. (Student)" userId="d66164a3-933a-48aa-bf2a-2fa2c758a05b" providerId="ADAL" clId="{9AB7F413-9A3C-4CDC-AAF7-B21220BCB8DA}" dt="2026-02-14T20:07:20.200" v="11" actId="1036"/>
        <pc:sldMkLst>
          <pc:docMk/>
          <pc:sldMk cId="3229971397" sldId="257"/>
        </pc:sldMkLst>
        <pc:spChg chg="mod">
          <ac:chgData name="CLAYTON, ASSAMEE Y. (Student)" userId="d66164a3-933a-48aa-bf2a-2fa2c758a05b" providerId="ADAL" clId="{9AB7F413-9A3C-4CDC-AAF7-B21220BCB8DA}" dt="2026-02-14T20:07:20.200" v="11" actId="1036"/>
          <ac:spMkLst>
            <pc:docMk/>
            <pc:sldMk cId="3229971397" sldId="257"/>
            <ac:spMk id="2" creationId="{4730204A-A6AF-E08E-C3FA-80C4E90939B3}"/>
          </ac:spMkLst>
        </pc:spChg>
        <pc:spChg chg="mod">
          <ac:chgData name="CLAYTON, ASSAMEE Y. (Student)" userId="d66164a3-933a-48aa-bf2a-2fa2c758a05b" providerId="ADAL" clId="{9AB7F413-9A3C-4CDC-AAF7-B21220BCB8DA}" dt="2026-02-14T20:07:20.200" v="11" actId="1036"/>
          <ac:spMkLst>
            <pc:docMk/>
            <pc:sldMk cId="3229971397" sldId="257"/>
            <ac:spMk id="3" creationId="{BAB83ACA-AE45-FC18-AD68-8CAB28838802}"/>
          </ac:spMkLst>
        </pc:spChg>
        <pc:spChg chg="mod">
          <ac:chgData name="CLAYTON, ASSAMEE Y. (Student)" userId="d66164a3-933a-48aa-bf2a-2fa2c758a05b" providerId="ADAL" clId="{9AB7F413-9A3C-4CDC-AAF7-B21220BCB8DA}" dt="2026-02-14T20:07:20.200" v="11" actId="1036"/>
          <ac:spMkLst>
            <pc:docMk/>
            <pc:sldMk cId="3229971397" sldId="257"/>
            <ac:spMk id="5" creationId="{0F02289A-2F56-FBA9-E9C7-5B8CB6E4A371}"/>
          </ac:spMkLst>
        </pc:spChg>
        <pc:spChg chg="mod">
          <ac:chgData name="CLAYTON, ASSAMEE Y. (Student)" userId="d66164a3-933a-48aa-bf2a-2fa2c758a05b" providerId="ADAL" clId="{9AB7F413-9A3C-4CDC-AAF7-B21220BCB8DA}" dt="2026-02-14T20:07:20.200" v="11" actId="1036"/>
          <ac:spMkLst>
            <pc:docMk/>
            <pc:sldMk cId="3229971397" sldId="257"/>
            <ac:spMk id="7" creationId="{5EA4BA4A-DB3F-41C0-AADA-5C5DD4424B57}"/>
          </ac:spMkLst>
        </pc:spChg>
        <pc:spChg chg="mod">
          <ac:chgData name="CLAYTON, ASSAMEE Y. (Student)" userId="d66164a3-933a-48aa-bf2a-2fa2c758a05b" providerId="ADAL" clId="{9AB7F413-9A3C-4CDC-AAF7-B21220BCB8DA}" dt="2026-02-14T20:07:20.200" v="11" actId="1036"/>
          <ac:spMkLst>
            <pc:docMk/>
            <pc:sldMk cId="3229971397" sldId="257"/>
            <ac:spMk id="9" creationId="{3883092C-1BD7-F61A-A226-0B7AC9FB5985}"/>
          </ac:spMkLst>
        </pc:spChg>
      </pc:sldChg>
      <pc:sldChg chg="modSp mod">
        <pc:chgData name="CLAYTON, ASSAMEE Y. (Student)" userId="d66164a3-933a-48aa-bf2a-2fa2c758a05b" providerId="ADAL" clId="{9AB7F413-9A3C-4CDC-AAF7-B21220BCB8DA}" dt="2026-02-14T20:07:41.293" v="21" actId="1036"/>
        <pc:sldMkLst>
          <pc:docMk/>
          <pc:sldMk cId="4011319415" sldId="258"/>
        </pc:sldMkLst>
        <pc:spChg chg="mod">
          <ac:chgData name="CLAYTON, ASSAMEE Y. (Student)" userId="d66164a3-933a-48aa-bf2a-2fa2c758a05b" providerId="ADAL" clId="{9AB7F413-9A3C-4CDC-AAF7-B21220BCB8DA}" dt="2026-02-14T20:07:41.293" v="21" actId="1036"/>
          <ac:spMkLst>
            <pc:docMk/>
            <pc:sldMk cId="4011319415" sldId="258"/>
            <ac:spMk id="2" creationId="{07EB7C2D-E835-3A5E-4094-5C391EE07510}"/>
          </ac:spMkLst>
        </pc:spChg>
        <pc:spChg chg="mod">
          <ac:chgData name="CLAYTON, ASSAMEE Y. (Student)" userId="d66164a3-933a-48aa-bf2a-2fa2c758a05b" providerId="ADAL" clId="{9AB7F413-9A3C-4CDC-AAF7-B21220BCB8DA}" dt="2026-02-14T20:07:41.293" v="21" actId="1036"/>
          <ac:spMkLst>
            <pc:docMk/>
            <pc:sldMk cId="4011319415" sldId="258"/>
            <ac:spMk id="3" creationId="{24199CDD-E97B-2A50-DBCC-CDCF1FB550A3}"/>
          </ac:spMkLst>
        </pc:spChg>
        <pc:spChg chg="mod">
          <ac:chgData name="CLAYTON, ASSAMEE Y. (Student)" userId="d66164a3-933a-48aa-bf2a-2fa2c758a05b" providerId="ADAL" clId="{9AB7F413-9A3C-4CDC-AAF7-B21220BCB8DA}" dt="2026-02-14T20:07:41.293" v="21" actId="1036"/>
          <ac:spMkLst>
            <pc:docMk/>
            <pc:sldMk cId="4011319415" sldId="258"/>
            <ac:spMk id="8" creationId="{3252094D-C002-C135-3497-50FF0B4093D2}"/>
          </ac:spMkLst>
        </pc:spChg>
        <pc:picChg chg="mod">
          <ac:chgData name="CLAYTON, ASSAMEE Y. (Student)" userId="d66164a3-933a-48aa-bf2a-2fa2c758a05b" providerId="ADAL" clId="{9AB7F413-9A3C-4CDC-AAF7-B21220BCB8DA}" dt="2026-02-14T20:07:41.293" v="21" actId="1036"/>
          <ac:picMkLst>
            <pc:docMk/>
            <pc:sldMk cId="4011319415" sldId="258"/>
            <ac:picMk id="6" creationId="{736A0EAA-3E59-F0F6-FD9B-4AEC359831F5}"/>
          </ac:picMkLst>
        </pc:picChg>
      </pc:sldChg>
      <pc:sldChg chg="modSp mod">
        <pc:chgData name="CLAYTON, ASSAMEE Y. (Student)" userId="d66164a3-933a-48aa-bf2a-2fa2c758a05b" providerId="ADAL" clId="{9AB7F413-9A3C-4CDC-AAF7-B21220BCB8DA}" dt="2026-02-14T20:14:35.618" v="75" actId="1076"/>
        <pc:sldMkLst>
          <pc:docMk/>
          <pc:sldMk cId="2971754724" sldId="259"/>
        </pc:sldMkLst>
        <pc:spChg chg="mod">
          <ac:chgData name="CLAYTON, ASSAMEE Y. (Student)" userId="d66164a3-933a-48aa-bf2a-2fa2c758a05b" providerId="ADAL" clId="{9AB7F413-9A3C-4CDC-AAF7-B21220BCB8DA}" dt="2026-02-14T20:14:35.618" v="75" actId="1076"/>
          <ac:spMkLst>
            <pc:docMk/>
            <pc:sldMk cId="2971754724" sldId="259"/>
            <ac:spMk id="2" creationId="{9868F885-354F-C671-9A42-C9BB2890379A}"/>
          </ac:spMkLst>
        </pc:spChg>
        <pc:spChg chg="mod">
          <ac:chgData name="CLAYTON, ASSAMEE Y. (Student)" userId="d66164a3-933a-48aa-bf2a-2fa2c758a05b" providerId="ADAL" clId="{9AB7F413-9A3C-4CDC-AAF7-B21220BCB8DA}" dt="2026-02-14T20:07:49.597" v="31" actId="1036"/>
          <ac:spMkLst>
            <pc:docMk/>
            <pc:sldMk cId="2971754724" sldId="259"/>
            <ac:spMk id="3" creationId="{B50E7C39-5F50-7716-29BB-30246D749F30}"/>
          </ac:spMkLst>
        </pc:spChg>
        <pc:spChg chg="mod">
          <ac:chgData name="CLAYTON, ASSAMEE Y. (Student)" userId="d66164a3-933a-48aa-bf2a-2fa2c758a05b" providerId="ADAL" clId="{9AB7F413-9A3C-4CDC-AAF7-B21220BCB8DA}" dt="2026-02-14T20:14:31.653" v="73" actId="1076"/>
          <ac:spMkLst>
            <pc:docMk/>
            <pc:sldMk cId="2971754724" sldId="259"/>
            <ac:spMk id="7" creationId="{066191AC-509A-0F82-0FA4-4FB7DE09AD92}"/>
          </ac:spMkLst>
        </pc:spChg>
        <pc:picChg chg="mod modCrop">
          <ac:chgData name="CLAYTON, ASSAMEE Y. (Student)" userId="d66164a3-933a-48aa-bf2a-2fa2c758a05b" providerId="ADAL" clId="{9AB7F413-9A3C-4CDC-AAF7-B21220BCB8DA}" dt="2026-02-14T20:12:35.605" v="68" actId="1076"/>
          <ac:picMkLst>
            <pc:docMk/>
            <pc:sldMk cId="2971754724" sldId="259"/>
            <ac:picMk id="5" creationId="{5BC4B915-542C-8085-F3B6-9739CFD41BE3}"/>
          </ac:picMkLst>
        </pc:picChg>
      </pc:sldChg>
      <pc:sldChg chg="modSp mod">
        <pc:chgData name="CLAYTON, ASSAMEE Y. (Student)" userId="d66164a3-933a-48aa-bf2a-2fa2c758a05b" providerId="ADAL" clId="{9AB7F413-9A3C-4CDC-AAF7-B21220BCB8DA}" dt="2026-02-14T20:13:24.903" v="72" actId="14100"/>
        <pc:sldMkLst>
          <pc:docMk/>
          <pc:sldMk cId="1518613387" sldId="260"/>
        </pc:sldMkLst>
        <pc:spChg chg="mod">
          <ac:chgData name="CLAYTON, ASSAMEE Y. (Student)" userId="d66164a3-933a-48aa-bf2a-2fa2c758a05b" providerId="ADAL" clId="{9AB7F413-9A3C-4CDC-AAF7-B21220BCB8DA}" dt="2026-02-14T20:07:57.524" v="41" actId="1036"/>
          <ac:spMkLst>
            <pc:docMk/>
            <pc:sldMk cId="1518613387" sldId="260"/>
            <ac:spMk id="2" creationId="{B18A5F1A-731D-5806-B480-F16005A2F4B1}"/>
          </ac:spMkLst>
        </pc:spChg>
        <pc:spChg chg="mod">
          <ac:chgData name="CLAYTON, ASSAMEE Y. (Student)" userId="d66164a3-933a-48aa-bf2a-2fa2c758a05b" providerId="ADAL" clId="{9AB7F413-9A3C-4CDC-AAF7-B21220BCB8DA}" dt="2026-02-14T20:07:57.524" v="41" actId="1036"/>
          <ac:spMkLst>
            <pc:docMk/>
            <pc:sldMk cId="1518613387" sldId="260"/>
            <ac:spMk id="3" creationId="{09C42ADF-3188-E2E5-4283-A6EE3205A3A2}"/>
          </ac:spMkLst>
        </pc:spChg>
        <pc:picChg chg="mod modCrop">
          <ac:chgData name="CLAYTON, ASSAMEE Y. (Student)" userId="d66164a3-933a-48aa-bf2a-2fa2c758a05b" providerId="ADAL" clId="{9AB7F413-9A3C-4CDC-AAF7-B21220BCB8DA}" dt="2026-02-14T20:13:24.903" v="72" actId="14100"/>
          <ac:picMkLst>
            <pc:docMk/>
            <pc:sldMk cId="1518613387" sldId="260"/>
            <ac:picMk id="5" creationId="{6CC6C0A9-E9F9-6211-6145-6E48672E8189}"/>
          </ac:picMkLst>
        </pc:picChg>
      </pc:sldChg>
      <pc:sldChg chg="modSp mod">
        <pc:chgData name="CLAYTON, ASSAMEE Y. (Student)" userId="d66164a3-933a-48aa-bf2a-2fa2c758a05b" providerId="ADAL" clId="{9AB7F413-9A3C-4CDC-AAF7-B21220BCB8DA}" dt="2026-02-14T20:15:18.441" v="80" actId="14100"/>
        <pc:sldMkLst>
          <pc:docMk/>
          <pc:sldMk cId="415174228" sldId="261"/>
        </pc:sldMkLst>
        <pc:spChg chg="mod">
          <ac:chgData name="CLAYTON, ASSAMEE Y. (Student)" userId="d66164a3-933a-48aa-bf2a-2fa2c758a05b" providerId="ADAL" clId="{9AB7F413-9A3C-4CDC-AAF7-B21220BCB8DA}" dt="2026-02-14T20:08:31.727" v="62" actId="1036"/>
          <ac:spMkLst>
            <pc:docMk/>
            <pc:sldMk cId="415174228" sldId="261"/>
            <ac:spMk id="2" creationId="{6FC805F9-06BD-8CBF-60E9-80A03877A9C4}"/>
          </ac:spMkLst>
        </pc:spChg>
        <pc:spChg chg="mod">
          <ac:chgData name="CLAYTON, ASSAMEE Y. (Student)" userId="d66164a3-933a-48aa-bf2a-2fa2c758a05b" providerId="ADAL" clId="{9AB7F413-9A3C-4CDC-AAF7-B21220BCB8DA}" dt="2026-02-14T20:08:31.727" v="62" actId="1036"/>
          <ac:spMkLst>
            <pc:docMk/>
            <pc:sldMk cId="415174228" sldId="261"/>
            <ac:spMk id="3" creationId="{5F76CD50-90FF-4BB6-72C8-B47D27C72AD2}"/>
          </ac:spMkLst>
        </pc:spChg>
        <pc:picChg chg="mod modCrop">
          <ac:chgData name="CLAYTON, ASSAMEE Y. (Student)" userId="d66164a3-933a-48aa-bf2a-2fa2c758a05b" providerId="ADAL" clId="{9AB7F413-9A3C-4CDC-AAF7-B21220BCB8DA}" dt="2026-02-14T20:15:18.441" v="80" actId="14100"/>
          <ac:picMkLst>
            <pc:docMk/>
            <pc:sldMk cId="415174228" sldId="261"/>
            <ac:picMk id="5" creationId="{25D390CC-D72A-E4BB-918B-D0E6DBD18C7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165AA-E877-CF9F-FE6F-20C36E1078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10E0A5-18C1-EDAE-9D9B-62FB5A906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813B2-49E5-0935-5197-50D76EB04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819FA-52DC-4A2C-A5B8-E37AE633F002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00748-29EC-C41E-57E6-3ADF0CDB2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812A0-CFC5-1B9A-97BA-C565E6249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E5B6A-9C8F-40EF-A6D0-CEC14BCC2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6538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A294B-21BE-6326-5EB8-DD14C8F89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BC7ED-F6CD-3CF4-37FF-34C26A14E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0728C-868B-63E5-221B-87F0665E6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819FA-52DC-4A2C-A5B8-E37AE633F002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8E936-B8B7-7199-F08C-443A652C0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FE9AD-B334-9FD5-4BAF-98D02CBD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E5B6A-9C8F-40EF-A6D0-CEC14BCC2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1129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C0340-5C71-34AD-9314-A2D6A8955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9F27C-8DCD-8787-A3AD-B004F4471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0852C-A153-A31E-8FE1-0D6DED9E3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819FA-52DC-4A2C-A5B8-E37AE633F002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3B1BC-8913-974C-E0C0-79CC5441F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C6159-3177-9618-FC90-6F9218C4C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E5B6A-9C8F-40EF-A6D0-CEC14BCC2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9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A0BA-A5C9-8AD9-4194-AC98322E1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86881-A1EF-FE0A-89E2-51B9510E96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756FA5-50BC-609B-3D51-30CEC7ADF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25DE6-7337-3024-09C4-A587471B0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819FA-52DC-4A2C-A5B8-E37AE633F002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97CA7F-83A5-3002-D6C4-DA51BBDBD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1CC6B-FFE0-D7D6-3F66-8C745FFDC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E5B6A-9C8F-40EF-A6D0-CEC14BCC2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316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5CE09-54AA-7AC5-9515-5CF3370E7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05A45-82FE-47F4-F617-9C89316AF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CE2FC-EF39-49B7-D9CB-77ABF5022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952C06-3786-2568-4841-DC708FA89E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EE2A4A-C11D-B897-1206-D4F31D1B3F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DCFE31-60CC-F185-748C-BB70A0428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819FA-52DC-4A2C-A5B8-E37AE633F002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AE8001-5D06-DDAE-FB2A-CED947D8E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6CA895-9874-3F3A-F8AC-A47796B4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E5B6A-9C8F-40EF-A6D0-CEC14BCC2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047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70F13-A396-45A9-5B27-600C9820A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CC2A30-3C6F-6161-F5AC-5D6292AA2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819FA-52DC-4A2C-A5B8-E37AE633F002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7600E-846B-43BF-AFEF-04877B5A5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FCC09-CCA4-A369-F4AE-FC27C858C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E5B6A-9C8F-40EF-A6D0-CEC14BCC2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5632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C21613-9CA2-B5D9-845E-3F50F347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819FA-52DC-4A2C-A5B8-E37AE633F002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16E29B-C209-8C76-B21D-0680F119D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8FFC5-BA95-11D5-A9A5-7C8688384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E5B6A-9C8F-40EF-A6D0-CEC14BCC2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2759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33429-759E-C4DC-EA5D-D493D3575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C2C68-97CA-CE5F-912E-96D685C90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2F5F5-FF05-5124-5345-6B66775D2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DA006-0E15-00AC-055D-22D0064B2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819FA-52DC-4A2C-A5B8-E37AE633F002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3903F-EA5C-ED8D-99B9-406521FA8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2FDF1F-EAE7-8C06-5A83-D4FE6139B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E5B6A-9C8F-40EF-A6D0-CEC14BCC2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659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4A7BE-92AD-4065-1BAD-EF89F82B6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6B4E27-1465-8325-E513-D691A23944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E1771A-95C0-F607-95CC-842C1905D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9227A-D9B0-2E8E-172C-170CF7BEB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819FA-52DC-4A2C-A5B8-E37AE633F002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9B3B5-C638-3F3D-F475-E90C97A1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32AC7-3D2F-CD3B-5475-9B2B2CF0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E5B6A-9C8F-40EF-A6D0-CEC14BCC2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623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E25BE-84A9-3E63-3818-E291BC2EF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072B86-702A-77F4-C0B6-5A66FE1BA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61C7A-206F-2A85-0DA3-EBD91147D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819FA-52DC-4A2C-A5B8-E37AE633F002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76C0F-F009-020D-5F50-0492907FB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BA6F-B9E8-502B-B689-1E4AA1018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E5B6A-9C8F-40EF-A6D0-CEC14BCC2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696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F89B95-4A0C-7422-6D80-3598BBD374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D7BE16-CF4E-F1F2-97E9-B95D82583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AAAEF-2401-0004-B69F-78961AC4C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819FA-52DC-4A2C-A5B8-E37AE633F002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7A3F2-1702-616B-29E1-044586526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4E43C-50E2-1D32-F6DA-B35F93FE6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E5B6A-9C8F-40EF-A6D0-CEC14BCC2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339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377585-3F70-9AB2-EB21-BB2736D46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08913-770C-F50E-7B95-7893EEE1B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81256-52CA-7479-CC4A-9B979FC23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3819FA-52DC-4A2C-A5B8-E37AE633F002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DCF31-59F6-9C0D-3F56-8FCDCE177C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B2EC9-1C63-E7B0-96E3-24DA07AE2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AE5B6A-9C8F-40EF-A6D0-CEC14BCC2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8702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204A-A6AF-E08E-C3FA-80C4E9093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51" y="303754"/>
            <a:ext cx="10515600" cy="753556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202124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Strategy: Shift to High-Efficiency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83ACA-AE45-FC18-AD68-8CAB28838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451" y="1057310"/>
            <a:ext cx="11301518" cy="7535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rgbClr val="20212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By exiting inefficient European Display channels and pivoting to the Search &amp; YouTube channels in the Egyptian and Saudi Arabian markets, we project a 4x increase in results for the same budget.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02289A-2F56-FBA9-E9C7-5B8CB6E4A371}"/>
              </a:ext>
            </a:extLst>
          </p:cNvPr>
          <p:cNvSpPr txBox="1"/>
          <p:nvPr/>
        </p:nvSpPr>
        <p:spPr>
          <a:xfrm>
            <a:off x="179111" y="3523270"/>
            <a:ext cx="32917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4285F4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90% Cut</a:t>
            </a:r>
          </a:p>
          <a:p>
            <a:r>
              <a:rPr lang="en-GB" sz="1400" b="1" dirty="0">
                <a:solidFill>
                  <a:srgbClr val="20212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 Acquisition Costs</a:t>
            </a:r>
          </a:p>
          <a:p>
            <a:endParaRPr lang="en-GB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GB" sz="1200" dirty="0">
                <a:solidFill>
                  <a:srgbClr val="20212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(Dropped from ~$30 to ~$3)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A4BA4A-DB3F-41C0-AADA-5C5DD4424B57}"/>
              </a:ext>
            </a:extLst>
          </p:cNvPr>
          <p:cNvSpPr txBox="1"/>
          <p:nvPr/>
        </p:nvSpPr>
        <p:spPr>
          <a:xfrm>
            <a:off x="4450139" y="3523270"/>
            <a:ext cx="329172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rgbClr val="34A853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Significant</a:t>
            </a:r>
          </a:p>
          <a:p>
            <a:r>
              <a:rPr lang="en-GB" b="1" dirty="0">
                <a:solidFill>
                  <a:srgbClr val="20212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Brand Impact</a:t>
            </a:r>
          </a:p>
          <a:p>
            <a:endParaRPr lang="en-GB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GB" sz="1200" dirty="0">
                <a:solidFill>
                  <a:srgbClr val="20212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(Moved from “False” to “True” Significance)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83092C-1BD7-F61A-A226-0B7AC9FB5985}"/>
              </a:ext>
            </a:extLst>
          </p:cNvPr>
          <p:cNvSpPr txBox="1"/>
          <p:nvPr/>
        </p:nvSpPr>
        <p:spPr>
          <a:xfrm>
            <a:off x="8900278" y="3523270"/>
            <a:ext cx="329172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="1" dirty="0">
                <a:solidFill>
                  <a:srgbClr val="FBBC04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19x</a:t>
            </a:r>
          </a:p>
          <a:p>
            <a:r>
              <a:rPr lang="en-GB" b="1" dirty="0">
                <a:solidFill>
                  <a:srgbClr val="20212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Higher Engagement</a:t>
            </a:r>
          </a:p>
          <a:p>
            <a:endParaRPr lang="en-GB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GB" sz="1200" dirty="0">
                <a:solidFill>
                  <a:srgbClr val="20212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(Life Hack Creative vs Free Trial)</a:t>
            </a:r>
          </a:p>
        </p:txBody>
      </p:sp>
    </p:spTree>
    <p:extLst>
      <p:ext uri="{BB962C8B-B14F-4D97-AF65-F5344CB8AC3E}">
        <p14:creationId xmlns:p14="http://schemas.microsoft.com/office/powerpoint/2010/main" val="3229971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4ABF3-D509-2AA7-8421-C04D864B6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B7C2D-E835-3A5E-4094-5C391EE07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51" y="303754"/>
            <a:ext cx="10515600" cy="753556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4285F4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Acquisition: Buying Users at a 90% Discount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99CDD-E97B-2A50-DBCC-CDCF1FB55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250" y="1454085"/>
            <a:ext cx="2849799" cy="4178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200" b="1" dirty="0">
                <a:solidFill>
                  <a:srgbClr val="EA433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PROBLEM:</a:t>
            </a:r>
          </a:p>
          <a:p>
            <a:pPr marL="0" indent="0">
              <a:buNone/>
            </a:pPr>
            <a:r>
              <a:rPr lang="en-GB" sz="1400" dirty="0">
                <a:solidFill>
                  <a:srgbClr val="20212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UK &amp; Germany markets are saturated. Cost Per Acquisition (CPA) is currently &gt;$30.</a:t>
            </a:r>
          </a:p>
          <a:p>
            <a:pPr marL="0" indent="0">
              <a:buNone/>
            </a:pPr>
            <a:endParaRPr lang="en-GB" sz="1400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r>
              <a:rPr lang="en-GB" sz="1200" b="1" dirty="0">
                <a:solidFill>
                  <a:srgbClr val="34A85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SOLUTION:</a:t>
            </a:r>
          </a:p>
          <a:p>
            <a:pPr marL="0" indent="0">
              <a:buNone/>
            </a:pPr>
            <a:r>
              <a:rPr lang="en-GB" sz="1400" dirty="0">
                <a:solidFill>
                  <a:srgbClr val="20212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Egypt &amp; Saudi Arabia deliver the exact same sign-ups for ~$3.20.</a:t>
            </a: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r>
              <a:rPr lang="en-GB" sz="1200" b="1" dirty="0">
                <a:solidFill>
                  <a:srgbClr val="4285F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IMPACT:</a:t>
            </a:r>
          </a:p>
          <a:p>
            <a:pPr marL="0" indent="0">
              <a:buNone/>
            </a:pPr>
            <a:r>
              <a:rPr lang="en-GB" sz="1400" dirty="0">
                <a:solidFill>
                  <a:srgbClr val="20212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Every $1M moved from UK to EG &amp; SA yields 10x more users.</a:t>
            </a: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2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2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2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2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200" b="1" dirty="0">
              <a:solidFill>
                <a:srgbClr val="EA4335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736A0EAA-3E59-F0F6-FD9B-4AEC35983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21"/>
          <a:stretch>
            <a:fillRect/>
          </a:stretch>
        </p:blipFill>
        <p:spPr>
          <a:xfrm>
            <a:off x="3067049" y="1454085"/>
            <a:ext cx="9156570" cy="472351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252094D-C002-C135-3497-50FF0B4093D2}"/>
              </a:ext>
            </a:extLst>
          </p:cNvPr>
          <p:cNvSpPr/>
          <p:nvPr/>
        </p:nvSpPr>
        <p:spPr>
          <a:xfrm>
            <a:off x="3736843" y="1554919"/>
            <a:ext cx="965597" cy="991791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1319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FA0DC-0A95-B0B4-3A0F-C474FF2F1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8F885-354F-C671-9A42-C9BB28903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51" y="303754"/>
            <a:ext cx="10515600" cy="753556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4285F4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Impact: Stopping the “Waste”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E7C39-5F50-7716-29BB-30246D749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451" y="1454085"/>
            <a:ext cx="3232174" cy="4178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200" b="1" dirty="0">
                <a:solidFill>
                  <a:srgbClr val="EA433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PROBLEM:</a:t>
            </a:r>
          </a:p>
          <a:p>
            <a:pPr marL="0" indent="0">
              <a:buNone/>
            </a:pPr>
            <a:r>
              <a:rPr lang="en-GB" sz="1400" dirty="0">
                <a:solidFill>
                  <a:srgbClr val="20212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“Display” ads in UK/DE cost &gt;$2.50 per lifted user. Statistical significance is FALSE (Random Noise).</a:t>
            </a:r>
          </a:p>
          <a:p>
            <a:pPr marL="0" indent="0">
              <a:buNone/>
            </a:pPr>
            <a:endParaRPr lang="en-GB" sz="1400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r>
              <a:rPr lang="en-GB" sz="1200" b="1" dirty="0">
                <a:solidFill>
                  <a:srgbClr val="34A85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SOLUTION:</a:t>
            </a:r>
          </a:p>
          <a:p>
            <a:pPr marL="0" indent="0">
              <a:buNone/>
            </a:pPr>
            <a:r>
              <a:rPr lang="en-GB" sz="1400" dirty="0">
                <a:solidFill>
                  <a:srgbClr val="20212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YouTube in EG &amp; SA costs just $0.21 per lifted user with TRUE statistical significance.</a:t>
            </a: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r>
              <a:rPr lang="en-GB" sz="1200" b="1" dirty="0">
                <a:solidFill>
                  <a:srgbClr val="4285F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IMPACT:</a:t>
            </a:r>
          </a:p>
          <a:p>
            <a:pPr marL="0" indent="0">
              <a:buNone/>
            </a:pPr>
            <a:r>
              <a:rPr lang="en-GB" sz="1400" dirty="0">
                <a:solidFill>
                  <a:srgbClr val="20212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 stop paying for “fake” results and start paying for proven influence.</a:t>
            </a: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2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2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2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2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200" b="1" dirty="0">
              <a:solidFill>
                <a:srgbClr val="EA4335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graph of a bar graph&#10;&#10;AI-generated content may be incorrect.">
            <a:extLst>
              <a:ext uri="{FF2B5EF4-FFF2-40B4-BE49-F238E27FC236}">
                <a16:creationId xmlns:a16="http://schemas.microsoft.com/office/drawing/2014/main" id="{5BC4B915-542C-8085-F3B6-9739CFD41B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0"/>
          <a:stretch>
            <a:fillRect/>
          </a:stretch>
        </p:blipFill>
        <p:spPr>
          <a:xfrm>
            <a:off x="3525625" y="1454085"/>
            <a:ext cx="8556656" cy="4415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66191AC-509A-0F82-0FA4-4FB7DE09AD92}"/>
              </a:ext>
            </a:extLst>
          </p:cNvPr>
          <p:cNvSpPr/>
          <p:nvPr/>
        </p:nvSpPr>
        <p:spPr>
          <a:xfrm>
            <a:off x="4103290" y="1529916"/>
            <a:ext cx="931864" cy="756295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1754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54B40-7BA9-5560-78F3-61133A95B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A5F1A-731D-5806-B480-F16005A2F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51" y="303754"/>
            <a:ext cx="10515600" cy="753556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4285F4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Content: Utility Beats Sales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42ADF-3188-E2E5-4283-A6EE3205A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451" y="1454085"/>
            <a:ext cx="3430824" cy="4178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200" b="1" dirty="0">
                <a:solidFill>
                  <a:srgbClr val="EA433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PROBLEM:</a:t>
            </a:r>
          </a:p>
          <a:p>
            <a:pPr marL="0" indent="0">
              <a:buNone/>
            </a:pPr>
            <a:r>
              <a:rPr lang="en-GB" sz="1400" dirty="0">
                <a:solidFill>
                  <a:srgbClr val="20212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 “Free Trial” creative scored 0.52. Students ignore traditional sales pitches. </a:t>
            </a:r>
          </a:p>
          <a:p>
            <a:pPr marL="0" indent="0">
              <a:buNone/>
            </a:pPr>
            <a:endParaRPr lang="en-GB" sz="1400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r>
              <a:rPr lang="en-GB" sz="1200" b="1" dirty="0">
                <a:solidFill>
                  <a:srgbClr val="34A85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SOLUTION:</a:t>
            </a:r>
          </a:p>
          <a:p>
            <a:pPr marL="0" indent="0">
              <a:buNone/>
            </a:pPr>
            <a:r>
              <a:rPr lang="en-GB" sz="1400" dirty="0">
                <a:solidFill>
                  <a:srgbClr val="20212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 “Life Hack” creative scored 9.98 with our target demographic (18-24)</a:t>
            </a: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r>
              <a:rPr lang="en-GB" sz="1200" b="1" dirty="0">
                <a:solidFill>
                  <a:srgbClr val="4285F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IMPACT:</a:t>
            </a:r>
          </a:p>
          <a:p>
            <a:pPr marL="0" indent="0">
              <a:buNone/>
            </a:pPr>
            <a:r>
              <a:rPr lang="en-GB" sz="1400" dirty="0">
                <a:solidFill>
                  <a:srgbClr val="20212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By simply changing the video file, we increase engagement by 1,800%</a:t>
            </a: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2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2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2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2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GB" sz="1200" b="1" dirty="0">
              <a:solidFill>
                <a:srgbClr val="EA4335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6CC6C0A9-E9F9-6211-6145-6E48672E8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02"/>
          <a:stretch>
            <a:fillRect/>
          </a:stretch>
        </p:blipFill>
        <p:spPr>
          <a:xfrm>
            <a:off x="4242062" y="1448713"/>
            <a:ext cx="7656488" cy="519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613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6D813-478E-A341-FFA5-9D43D4C0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805F9-06BD-8CBF-60E9-80A03877A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51" y="303754"/>
            <a:ext cx="10515600" cy="753556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4285F4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Plan: $10M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6CD50-90FF-4BB6-72C8-B47D27C72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451" y="1454085"/>
            <a:ext cx="2916474" cy="417843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1200" b="1" dirty="0">
                <a:solidFill>
                  <a:srgbClr val="34A85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ACTION:</a:t>
            </a:r>
          </a:p>
          <a:p>
            <a:pPr marL="0" indent="0">
              <a:buNone/>
            </a:pPr>
            <a:r>
              <a:rPr lang="en-GB" sz="1500" dirty="0">
                <a:solidFill>
                  <a:srgbClr val="20212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$7M to Growth Markets (EG &amp; SA). Aggressive scale-up in Search &amp; YouTube. </a:t>
            </a:r>
          </a:p>
          <a:p>
            <a:pPr marL="0" indent="0">
              <a:buNone/>
            </a:pPr>
            <a:endParaRPr lang="en-GB" sz="1500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r>
              <a:rPr lang="en-GB" sz="1200" b="1" dirty="0">
                <a:solidFill>
                  <a:srgbClr val="FBBC0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ACTION:</a:t>
            </a:r>
          </a:p>
          <a:p>
            <a:pPr marL="0" indent="0">
              <a:buNone/>
            </a:pPr>
            <a:r>
              <a:rPr lang="en-GB" sz="1500" dirty="0">
                <a:solidFill>
                  <a:srgbClr val="20212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$3M to UK &amp; Germany. Restricted to high-intent Search only (protecting market share). </a:t>
            </a:r>
          </a:p>
          <a:p>
            <a:pPr marL="0" indent="0">
              <a:buNone/>
            </a:pPr>
            <a:endParaRPr lang="en-GB" sz="15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r>
              <a:rPr lang="en-GB" sz="1200" b="1" dirty="0">
                <a:solidFill>
                  <a:srgbClr val="EA433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ACTION:</a:t>
            </a:r>
          </a:p>
          <a:p>
            <a:pPr marL="0" indent="0">
              <a:buNone/>
            </a:pPr>
            <a:r>
              <a:rPr lang="en-GB" sz="1500" dirty="0">
                <a:solidFill>
                  <a:srgbClr val="20212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$0 to Display. Immediate deprecation of all low-performing channels. </a:t>
            </a:r>
          </a:p>
          <a:p>
            <a:pPr marL="0" indent="0">
              <a:buNone/>
            </a:pPr>
            <a:endParaRPr lang="en-GB" sz="1500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r>
              <a:rPr lang="en-GB" sz="1300" b="1" dirty="0">
                <a:solidFill>
                  <a:srgbClr val="4285F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OUTCOME:</a:t>
            </a:r>
          </a:p>
          <a:p>
            <a:pPr marL="0" indent="0">
              <a:buNone/>
            </a:pPr>
            <a:r>
              <a:rPr lang="en-GB" sz="1500" dirty="0">
                <a:solidFill>
                  <a:srgbClr val="20212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Projecting ~1.2M Sign-ups (a 4x increase vs historical average of 300k)</a:t>
            </a:r>
            <a:endParaRPr lang="en-GB" sz="1400" b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green and yellow pie chart&#10;&#10;AI-generated content may be incorrect.">
            <a:extLst>
              <a:ext uri="{FF2B5EF4-FFF2-40B4-BE49-F238E27FC236}">
                <a16:creationId xmlns:a16="http://schemas.microsoft.com/office/drawing/2014/main" id="{25D390CC-D72A-E4BB-918B-D0E6DBD18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44" b="4496"/>
          <a:stretch>
            <a:fillRect/>
          </a:stretch>
        </p:blipFill>
        <p:spPr>
          <a:xfrm>
            <a:off x="3209924" y="1454085"/>
            <a:ext cx="8353425" cy="519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4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f9556b9-49a6-484e-bb4b-fb7eda1cf57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C26A4616E7B04FA266D53ED50CA066" ma:contentTypeVersion="10" ma:contentTypeDescription="Create a new document." ma:contentTypeScope="" ma:versionID="cf74a625b6c51d62ebcb0822740130b6">
  <xsd:schema xmlns:xsd="http://www.w3.org/2001/XMLSchema" xmlns:xs="http://www.w3.org/2001/XMLSchema" xmlns:p="http://schemas.microsoft.com/office/2006/metadata/properties" xmlns:ns3="2f9556b9-49a6-484e-bb4b-fb7eda1cf578" targetNamespace="http://schemas.microsoft.com/office/2006/metadata/properties" ma:root="true" ma:fieldsID="45aae7cc227867bfdd66d704e0b71f8a" ns3:_="">
    <xsd:import namespace="2f9556b9-49a6-484e-bb4b-fb7eda1cf57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9556b9-49a6-484e-bb4b-fb7eda1cf57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7483AF-3790-4663-B72D-1615220D7C95}">
  <ds:schemaRefs>
    <ds:schemaRef ds:uri="2f9556b9-49a6-484e-bb4b-fb7eda1cf578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1758ABC-CB08-4E3A-A15A-854C85ADE2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A803B3-F464-4B4C-80DC-ADC60A54E6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9556b9-49a6-484e-bb4b-fb7eda1cf5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338</Words>
  <Application>Microsoft Office PowerPoint</Application>
  <PresentationFormat>Widescreen</PresentationFormat>
  <Paragraphs>83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Roboto Black</vt:lpstr>
      <vt:lpstr>Roboto</vt:lpstr>
      <vt:lpstr>Aptos Display</vt:lpstr>
      <vt:lpstr>Arial</vt:lpstr>
      <vt:lpstr>Aptos</vt:lpstr>
      <vt:lpstr>Office Theme</vt:lpstr>
      <vt:lpstr>Strategy: Shift to High-Efficiency Growth</vt:lpstr>
      <vt:lpstr>Acquisition: Buying Users at a 90% Discount</vt:lpstr>
      <vt:lpstr>Impact: Stopping the “Waste”</vt:lpstr>
      <vt:lpstr>Content: Utility Beats Sales</vt:lpstr>
      <vt:lpstr>The Plan: $10M Allocation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CLAYTON, ASSAMEE Y. (Student)</dc:creator>
  <cp:lastModifiedBy>CLAYTON, ASSAMEE Y. (Student)</cp:lastModifiedBy>
  <cp:revision>1</cp:revision>
  <dcterms:created xsi:type="dcterms:W3CDTF">2026-02-14T16:22:50Z</dcterms:created>
  <dcterms:modified xsi:type="dcterms:W3CDTF">2026-02-14T20:15:20Z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0x01010028C26A4616E7B04FA266D53ED50CA066</vt:lpwstr>
  </property>
</Properties>
</file>